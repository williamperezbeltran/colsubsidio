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Entrantes
8.200</c:v>
                  </c:pt>
                  <c:pt idx="1">
                    <c:v>Desbordados
5.500</c:v>
                  </c:pt>
                  <c:pt idx="2">
                    <c:v>Contactados
2.900</c:v>
                  </c:pt>
                  <c:pt idx="3">
                    <c:v>Agendas
607</c:v>
                  </c:pt>
                  <c:pt idx="4">
                    <c:v>Ventas
13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8200</c:v>
                </c:pt>
                <c:pt idx="1">
                  <c:v>5500</c:v>
                </c:pt>
                <c:pt idx="2">
                  <c:v>2900</c:v>
                </c:pt>
                <c:pt idx="3">
                  <c:v>607</c:v>
                </c:pt>
                <c:pt idx="4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Sesiones
48.000</c:v>
                  </c:pt>
                  <c:pt idx="1">
                    <c:v>Form. iniciado
3.200</c:v>
                  </c:pt>
                  <c:pt idx="2">
                    <c:v>Leads
1.850</c:v>
                  </c:pt>
                  <c:pt idx="3">
                    <c:v>Contactados
1.200</c:v>
                  </c:pt>
                  <c:pt idx="4">
                    <c:v>Agendas
210</c:v>
                  </c:pt>
                  <c:pt idx="5">
                    <c:v>Ventas
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48000</c:v>
                </c:pt>
                <c:pt idx="1">
                  <c:v>3200</c:v>
                </c:pt>
                <c:pt idx="2">
                  <c:v>1850</c:v>
                </c:pt>
                <c:pt idx="3">
                  <c:v>1200</c:v>
                </c:pt>
                <c:pt idx="4">
                  <c:v>210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WhatsApp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Contactación</c:v>
                  </c:pt>
                  <c:pt idx="1">
                    <c:v>Contactado→Agenda</c:v>
                  </c:pt>
                  <c:pt idx="2">
                    <c:v>Agenda→Venta</c:v>
                  </c:pt>
                  <c:pt idx="3">
                    <c:v>Venta/Lead x10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52.7</c:v>
                </c:pt>
                <c:pt idx="1">
                  <c:v>20.9</c:v>
                </c:pt>
                <c:pt idx="2">
                  <c:v>2.1</c:v>
                </c:pt>
                <c:pt idx="3">
                  <c:v>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Landing</c:v>
                </c:pt>
              </c:strCache>
            </c:strRef>
          </c:tx>
          <c:spPr>
            <a:solidFill>
              <a:srgbClr val="2FA8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Contactación</c:v>
                  </c:pt>
                  <c:pt idx="1">
                    <c:v>Contactado→Agenda</c:v>
                  </c:pt>
                  <c:pt idx="2">
                    <c:v>Agenda→Venta</c:v>
                  </c:pt>
                  <c:pt idx="3">
                    <c:v>Venta/Lead x10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64.9</c:v>
                </c:pt>
                <c:pt idx="1">
                  <c:v>17.5</c:v>
                </c:pt>
                <c:pt idx="2">
                  <c:v>3.8</c:v>
                </c:pt>
                <c:pt idx="3">
                  <c:v>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Motivo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64550"/>
              </a:solidFill>
              <a:effectLst/>
            </c:spPr>
          </c:dPt>
          <c:dPt>
            <c:idx val="1"/>
            <c:bubble3D val="0"/>
            <c:spPr>
              <a:solidFill>
                <a:srgbClr val="E8833A"/>
              </a:solidFill>
              <a:effectLst/>
            </c:spPr>
          </c:dPt>
          <c:dPt>
            <c:idx val="2"/>
            <c:bubble3D val="0"/>
            <c:spPr>
              <a:solidFill>
                <a:srgbClr val="F2C94C"/>
              </a:solidFill>
              <a:effectLst/>
            </c:spPr>
          </c:dPt>
          <c:dPt>
            <c:idx val="3"/>
            <c:bubble3D val="0"/>
            <c:spPr>
              <a:solidFill>
                <a:srgbClr val="6B7280"/>
              </a:solidFill>
              <a:effectLst/>
            </c:spPr>
          </c:dPt>
          <c:dPt>
            <c:idx val="4"/>
            <c:bubble3D val="0"/>
            <c:spPr>
              <a:solidFill>
                <a:srgbClr val="B8C4E8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Centrales de riesgo</c:v>
                </c:pt>
                <c:pt idx="1">
                  <c:v>Ubicación</c:v>
                </c:pt>
                <c:pt idx="2">
                  <c:v>Precio</c:v>
                </c:pt>
                <c:pt idx="3">
                  <c:v>Compra en otro proyecto</c:v>
                </c:pt>
                <c:pt idx="4">
                  <c:v>Otros / sin tipificar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39</c:v>
                </c:pt>
                <c:pt idx="1">
                  <c:v>21</c:v>
                </c:pt>
                <c:pt idx="2">
                  <c:v>14</c:v>
                </c:pt>
                <c:pt idx="3">
                  <c:v>7</c:v>
                </c:pt>
                <c:pt idx="4">
                  <c:v>19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de Conversión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Plan de Optimización Digital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 Colsubsidio  —  Landing &amp; WhatsApp Comercial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· Analista de Conversión y Optimización Digital  |  Datos de operación: Enero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966960" y="548640"/>
            <a:ext cx="1737360" cy="1737360"/>
          </a:xfrm>
          <a:prstGeom prst="ellipse">
            <a:avLst/>
          </a:prstGeom>
          <a:solidFill>
            <a:srgbClr val="283473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10972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vamos a recorrer el caso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del funnel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9280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Tasas de conversión etapa a etapa, WhatsApp vs. Landing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14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fuga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80720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pierde el negocio, con evidencia numérica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29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383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y control del lead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72160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norte, tablero y seguimiento hasta la venta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43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A/B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63600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un experimento sobre la fuga más accionable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57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212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 priorizado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55040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iniciativas con impacto estimado en ventas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 Colsubsidio  ·  Analista de Conversión y Optimización Digital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reto de negocio en una cifra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6596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reales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enero 2026 (WhatsApp)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3886200"/>
            <a:ext cx="2286000" cy="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0690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ventas/mes — meta 2026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(600 ventas/año)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22860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297680" y="34290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cumplimiento de meta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WhatsApp durante enero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44805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(~37 ventas/mes) 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hilo conductor de todo el análisis.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1965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2377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meta formal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28803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8138160" y="3794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en enero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42976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Propuesta: fijar meta 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ventas/mes (180/año)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 meses, revisable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trimestralmente.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 Colsubsidio  ·  Analista de Conversión y Optimización Digital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· CANAL WHATSAPP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funnel se rompe antes de contactar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680960" y="1554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Tasas etapa a etapa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80960" y="2057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Autogestión bot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332720" y="2057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32,9%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0" y="2560320"/>
            <a:ext cx="4023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0" y="2715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Contactación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332720" y="27157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52,7%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80960" y="3218688"/>
            <a:ext cx="4023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0" y="33741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Contactado → Agenda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332720" y="33741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20,9%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80960" y="3877056"/>
            <a:ext cx="4023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0" y="40325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→ Venta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332720" y="403250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80960" y="4535424"/>
            <a:ext cx="4023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0" y="46908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/ Lead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332720" y="46908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0,24%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 Colsubsidio  ·  Analista de Conversión y Optimización Digital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· CANAL LANDING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volumen, pero más eficiente por lead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680960" y="1554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Tasas etapa a etapa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80960" y="2057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Form. iniciado → completado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32720" y="2057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57,8%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0" y="2560320"/>
            <a:ext cx="4023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0" y="2715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Contactación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332720" y="27157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FA8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64,9%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80960" y="3218688"/>
            <a:ext cx="4023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0" y="33741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Contactado → Agenda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332720" y="33741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17,5%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80960" y="3877056"/>
            <a:ext cx="4023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0" y="40325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→ Venta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332720" y="403250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FA8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80960" y="4535424"/>
            <a:ext cx="4023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0" y="46908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/ Lead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332720" y="46908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FA8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0,43%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 Colsubsidio  ·  Analista de Conversión y Optimización Digital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DE CANALES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convierte casi 2x mejor por lead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75895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9893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"Venta/Lead" se multiplicó x10 para visualizarse en la misma escala (0,24% → 2,4 / 0,43% → 4,3).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366760" y="1554480"/>
            <a:ext cx="3337560" cy="4389120"/>
          </a:xfrm>
          <a:prstGeom prst="roundRect">
            <a:avLst>
              <a:gd name="adj" fmla="val 3288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/>
          <p:nvPr/>
        </p:nvSpPr>
        <p:spPr>
          <a:xfrm>
            <a:off x="8595360" y="1783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95360" y="22402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gana en volumen (3x más leads) y en pasar de contactado a agenda.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595360" y="33832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gana en contactación (+12 pp) y, sobre todo, en cerrar la venta una vez agendada (casi el doble).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595360" y="45262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eficiencia total por lead favorece a Landing: 0,43% vs. 0,24%.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 Colsubsidio  ·  Analista de Conversión y Optimización Digital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CENTRAL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3 puntos de mayor fuga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28347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Contactación WhatsApp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3063240" cy="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118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2.600 leads nunca contactados (47%)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11 ventas/mes potenciales perdidas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164592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283473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8745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709160" y="2697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→ Venta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709160" y="3429000"/>
            <a:ext cx="3063240" cy="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36118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607 agendas → 13 ventas en WhatsApp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4892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de las citas agendadas no cierran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21040" y="164592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283473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0" y="18745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595360" y="2697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Abandono de formulario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595360" y="3429000"/>
            <a:ext cx="3063240" cy="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36118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1.350 formularios iniciados no completados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95360" y="4892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de abandono en Landing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 Colsubsidio  ·  Analista de Conversión y Optimización Digital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 DE NO AGENDAMIENTO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frena la conversión y qué es accionable?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8463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600200"/>
          <a:ext cx="6126480" cy="292608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¿Accionable digital?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Centrales de riesgo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Indirecto: prefiltrar antes de agendar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Ubicación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Sí: filtrar zona desde bot/formulario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Parcial: calibrar expectativa en 1er contacto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Otro proyecto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tipificar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Sí: exigir tipificación en CRM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577840" y="1600200"/>
            <a:ext cx="61264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5669280" y="1600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772400" y="16002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595360" y="1600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¿Accionable digital?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577840" y="4709160"/>
            <a:ext cx="6126480" cy="1188720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11" name="Text 7"/>
          <p:cNvSpPr/>
          <p:nvPr/>
        </p:nvSpPr>
        <p:spPr>
          <a:xfrm>
            <a:off x="5806440" y="484632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crítico: solo 62% de los agendamientos tiene tipificación registrada — el 38% restante queda sin causa raíz, sesgando cualquier decisión futura.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 Colsubsidio  ·  Analista de Conversión y Optimización Digital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Y CONTROL DE VENTA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indicador norte, cinco KPIs de etapa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NORTE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Tasa de conversión Lead → Venta, por canal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11247120" cy="3566160"/>
        </p:xfrm>
        <a:graphic>
          <a:graphicData uri="http://schemas.openxmlformats.org/drawingml/2006/table">
            <a:tbl>
              <a:tblPr/>
              <a:tblGrid>
                <a:gridCol w="2834640"/>
                <a:gridCol w="3566160"/>
                <a:gridCol w="2194560"/>
                <a:gridCol w="265176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leads sin gestionar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contactados / Leads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Diaria (alerta)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primer contacto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lead → 1er contacto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4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contactación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Contactados / Leads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agendamiento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Agendas / Contactados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20-22%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asistencia a cita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Asistencias / Agendas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70% (nuevo)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cierre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 / Agendas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tipificación completa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causa / No-agenda 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2697480"/>
            <a:ext cx="11247120" cy="448056"/>
          </a:xfrm>
          <a:prstGeom prst="rect">
            <a:avLst/>
          </a:prstGeom>
          <a:solidFill>
            <a:srgbClr val="283473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697480"/>
            <a:ext cx="2697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429000" y="2697480"/>
            <a:ext cx="34290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995160" y="2697480"/>
            <a:ext cx="20574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89720" y="2697480"/>
            <a:ext cx="2514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 Colsubsidio  ·  Analista de Conversión y Optimización Digital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DEL LEAD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lead a la venta: estados y alertas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600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1691640"/>
            <a:ext cx="320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377440" y="169164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1691640"/>
            <a:ext cx="1600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77640" y="1691640"/>
            <a:ext cx="320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691640"/>
            <a:ext cx="1600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97880" y="1691640"/>
            <a:ext cx="320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691640"/>
            <a:ext cx="1600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Asistió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18120" y="1691640"/>
            <a:ext cx="320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691640"/>
            <a:ext cx="1600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Negociación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38360" y="1691640"/>
            <a:ext cx="320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058400" y="169164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2FA88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1691640"/>
            <a:ext cx="1600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Ganado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3611880" cy="288036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246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 contacto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5800" y="37490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a las 2h sin contactar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446227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a supervisor a las 4h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5175504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diario de leads vencidos por asesor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06240" y="3063240"/>
            <a:ext cx="3611880" cy="288036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3246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Atribución canal/UTM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434840" y="37490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lead entra con canal, campaña y UTM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434840" y="446227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interés asociado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434840" y="5175504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optimizar inversión por campaña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955280" y="3063240"/>
            <a:ext cx="3611880" cy="288036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32" name="Text 30"/>
          <p:cNvSpPr/>
          <p:nvPr/>
        </p:nvSpPr>
        <p:spPr>
          <a:xfrm>
            <a:off x="8183880" y="3246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control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183880" y="37490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ejecutiva: ventas vs. meta (mensual)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83880" y="446227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operativa: SLA y agendas (diaria)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183880" y="5175504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calidad de dato: % tipificación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 Colsubsidio  ·  Analista de Conversión y Optimización Digital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A/B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Atacando el abandono de formulario en Landing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36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el formulario de ~8 a 3 campos + barra de progreso eleva la tasa de completado, al bajar la fricción percibida.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6949440" cy="356616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N° de campos + barra de progreso (A: actual · B: corto)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 primaria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Formulario iniciado → Completado (base: 57,8%)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guardia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contactación y tasa de agendamiento (no deben caer)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 de decisión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Ganadora si hay +5pp con p &lt; 0,05, sin caer &gt;3pp en guardas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Muestra / duración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~1.500 formularios/variante (~3.000 total) · 4-5 semanas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589520" y="260604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/ sesgos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18120" y="3246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Estacionalidad: validar en mes de demanda estable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818120" y="390448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Contaminación: fijar variante por cookie/device ID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818120" y="456285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campos puede bajar calidad del dato de contacto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818120" y="5221224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insuficiente: extender antes que decidir temprano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 Colsubsidio  ·  Analista de Conversión y Optimización Digital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iniciativas priorizadas con modelo ICE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6949440" cy="3566160"/>
        </p:xfrm>
        <a:graphic>
          <a:graphicData uri="http://schemas.openxmlformats.org/drawingml/2006/table">
            <a:tbl>
              <a:tblPr/>
              <a:tblGrid>
                <a:gridCol w="457200"/>
                <a:gridCol w="3931920"/>
                <a:gridCol w="914400"/>
                <a:gridCol w="1645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 en ventas/mes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Enrutamiento + alertas SLA WhatsApp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Reducir tiempo de contacto en Landing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Prefiltro de calificación (bot/form)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Optimización de formulario (A/B)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Tipificación completa en CRM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Habilitador de 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554480"/>
            <a:ext cx="69494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05840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37760" y="1554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521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vtas/mes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589520" y="1554480"/>
            <a:ext cx="4114800" cy="461772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total proyectado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863840" y="2286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+11,7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7863840" y="3246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ventas/mes adicionales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WhatsApp (2-3 meses)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863840" y="4023360"/>
            <a:ext cx="3566160" cy="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63840" y="4206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C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→ ~33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863840" y="4800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ventas/mes combinadas (WhatsApp + Landing)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ejecutar el plan completo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 Colsubsidio  ·  Analista de Conversión y Optimización Digital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no es la demanda,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el seguimiento del lead.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de los leads de WhatsApp nunca se contactan — la fuga de mayor volumen.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4805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de las citas agendadas no cierran — la fuga de mayor gravedad relativa.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52120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datos, control y experimentación se proyecta pasar de 21 a ~33 ventas/mes en 2-3 meses.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 Colsubsidio  ·  Analista de Conversión y Optimización Digital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2026-07-13T03:41:26Z</dcterms:created>
  <dcterms:modified xsi:type="dcterms:W3CDTF">2026-07-13T03:41:26Z</dcterms:modified>
</cp:coreProperties>
</file>